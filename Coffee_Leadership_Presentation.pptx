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4B00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B00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A0DA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B72C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United States</c:v>
                  </c:pt>
                  <c:pt idx="1">
                    <c:v>Ireland</c:v>
                  </c:pt>
                  <c:pt idx="2">
                    <c:v>United Kingdom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9654</c:v>
                </c:pt>
                <c:pt idx="1">
                  <c:v>2663</c:v>
                </c:pt>
                <c:pt idx="2">
                  <c:v>863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Arabica</c:v>
                </c:pt>
              </c:strCache>
            </c:strRef>
          </c:tx>
          <c:spPr>
            <a:solidFill>
              <a:srgbClr val="6A0DAD"/>
            </a:solidFill>
            <a:ln w="31750" cap="flat">
              <a:solidFill>
                <a:srgbClr val="6A0DA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A0DAD"/>
              </a:solidFill>
              <a:ln w="9525" cap="flat">
                <a:solidFill>
                  <a:srgbClr val="6A0D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Jan'19</c:v>
                  </c:pt>
                  <c:pt idx="1">
                    <c:v>Apr</c:v>
                  </c:pt>
                  <c:pt idx="2">
                    <c:v>Jul</c:v>
                  </c:pt>
                  <c:pt idx="3">
                    <c:v>Oct</c:v>
                  </c:pt>
                  <c:pt idx="4">
                    <c:v>Jan'20</c:v>
                  </c:pt>
                  <c:pt idx="5">
                    <c:v>Apr</c:v>
                  </c:pt>
                  <c:pt idx="6">
                    <c:v>Jul</c:v>
                  </c:pt>
                  <c:pt idx="7">
                    <c:v>Oct</c:v>
                  </c:pt>
                  <c:pt idx="8">
                    <c:v>Jan'21</c:v>
                  </c:pt>
                  <c:pt idx="9">
                    <c:v>Apr</c:v>
                  </c:pt>
                  <c:pt idx="10">
                    <c:v>Jul</c:v>
                  </c:pt>
                  <c:pt idx="11">
                    <c:v>Oct</c:v>
                  </c:pt>
                  <c:pt idx="12">
                    <c:v>Jan'22</c:v>
                  </c:pt>
                  <c:pt idx="13">
                    <c:v>Apr</c:v>
                  </c:pt>
                  <c:pt idx="14">
                    <c:v>Jul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55</c:v>
                </c:pt>
                <c:pt idx="1">
                  <c:v>60</c:v>
                </c:pt>
                <c:pt idx="2">
                  <c:v>70</c:v>
                </c:pt>
                <c:pt idx="3">
                  <c:v>80</c:v>
                </c:pt>
                <c:pt idx="4">
                  <c:v>45</c:v>
                </c:pt>
                <c:pt idx="5">
                  <c:v>55</c:v>
                </c:pt>
                <c:pt idx="6">
                  <c:v>65</c:v>
                </c:pt>
                <c:pt idx="7">
                  <c:v>90</c:v>
                </c:pt>
                <c:pt idx="8">
                  <c:v>75</c:v>
                </c:pt>
                <c:pt idx="9">
                  <c:v>100</c:v>
                </c:pt>
                <c:pt idx="10">
                  <c:v>130</c:v>
                </c:pt>
                <c:pt idx="11">
                  <c:v>120</c:v>
                </c:pt>
                <c:pt idx="12">
                  <c:v>90</c:v>
                </c:pt>
                <c:pt idx="13">
                  <c:v>100</c:v>
                </c:pt>
                <c:pt idx="14">
                  <c:v>110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Excelsa</c:v>
                </c:pt>
              </c:strCache>
            </c:strRef>
          </c:tx>
          <c:spPr>
            <a:solidFill>
              <a:srgbClr val="0D6E6E"/>
            </a:solidFill>
            <a:ln w="31750" cap="flat">
              <a:solidFill>
                <a:srgbClr val="0D6E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6E6E"/>
              </a:solidFill>
              <a:ln w="9525" cap="flat">
                <a:solidFill>
                  <a:srgbClr val="0D6E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Jan'19</c:v>
                  </c:pt>
                  <c:pt idx="1">
                    <c:v>Apr</c:v>
                  </c:pt>
                  <c:pt idx="2">
                    <c:v>Jul</c:v>
                  </c:pt>
                  <c:pt idx="3">
                    <c:v>Oct</c:v>
                  </c:pt>
                  <c:pt idx="4">
                    <c:v>Jan'20</c:v>
                  </c:pt>
                  <c:pt idx="5">
                    <c:v>Apr</c:v>
                  </c:pt>
                  <c:pt idx="6">
                    <c:v>Jul</c:v>
                  </c:pt>
                  <c:pt idx="7">
                    <c:v>Oct</c:v>
                  </c:pt>
                  <c:pt idx="8">
                    <c:v>Jan'21</c:v>
                  </c:pt>
                  <c:pt idx="9">
                    <c:v>Apr</c:v>
                  </c:pt>
                  <c:pt idx="10">
                    <c:v>Jul</c:v>
                  </c:pt>
                  <c:pt idx="11">
                    <c:v>Oct</c:v>
                  </c:pt>
                  <c:pt idx="12">
                    <c:v>Jan'22</c:v>
                  </c:pt>
                  <c:pt idx="13">
                    <c:v>Apr</c:v>
                  </c:pt>
                  <c:pt idx="14">
                    <c:v>Jul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40</c:v>
                </c:pt>
                <c:pt idx="1">
                  <c:v>55</c:v>
                </c:pt>
                <c:pt idx="2">
                  <c:v>60</c:v>
                </c:pt>
                <c:pt idx="3">
                  <c:v>75</c:v>
                </c:pt>
                <c:pt idx="4">
                  <c:v>35</c:v>
                </c:pt>
                <c:pt idx="5">
                  <c:v>50</c:v>
                </c:pt>
                <c:pt idx="6">
                  <c:v>60</c:v>
                </c:pt>
                <c:pt idx="7">
                  <c:v>80</c:v>
                </c:pt>
                <c:pt idx="8">
                  <c:v>60</c:v>
                </c:pt>
                <c:pt idx="9">
                  <c:v>85</c:v>
                </c:pt>
                <c:pt idx="10">
                  <c:v>110</c:v>
                </c:pt>
                <c:pt idx="11">
                  <c:v>90</c:v>
                </c:pt>
                <c:pt idx="12">
                  <c:v>70</c:v>
                </c:pt>
                <c:pt idx="13">
                  <c:v>80</c:v>
                </c:pt>
                <c:pt idx="14">
                  <c:v>55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Liberica</c:v>
                </c:pt>
              </c:strCache>
            </c:strRef>
          </c:tx>
          <c:spPr>
            <a:solidFill>
              <a:srgbClr val="F59E0B"/>
            </a:solidFill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Jan'19</c:v>
                  </c:pt>
                  <c:pt idx="1">
                    <c:v>Apr</c:v>
                  </c:pt>
                  <c:pt idx="2">
                    <c:v>Jul</c:v>
                  </c:pt>
                  <c:pt idx="3">
                    <c:v>Oct</c:v>
                  </c:pt>
                  <c:pt idx="4">
                    <c:v>Jan'20</c:v>
                  </c:pt>
                  <c:pt idx="5">
                    <c:v>Apr</c:v>
                  </c:pt>
                  <c:pt idx="6">
                    <c:v>Jul</c:v>
                  </c:pt>
                  <c:pt idx="7">
                    <c:v>Oct</c:v>
                  </c:pt>
                  <c:pt idx="8">
                    <c:v>Jan'21</c:v>
                  </c:pt>
                  <c:pt idx="9">
                    <c:v>Apr</c:v>
                  </c:pt>
                  <c:pt idx="10">
                    <c:v>Jul</c:v>
                  </c:pt>
                  <c:pt idx="11">
                    <c:v>Oct</c:v>
                  </c:pt>
                  <c:pt idx="12">
                    <c:v>Jan'22</c:v>
                  </c:pt>
                  <c:pt idx="13">
                    <c:v>Apr</c:v>
                  </c:pt>
                  <c:pt idx="14">
                    <c:v>Jul</c:v>
                  </c:pt>
                </c:lvl>
              </c:multiLvlStrCache>
            </c:multiLvl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310</c:v>
                </c:pt>
                <c:pt idx="1">
                  <c:v>150</c:v>
                </c:pt>
                <c:pt idx="2">
                  <c:v>100</c:v>
                </c:pt>
                <c:pt idx="3">
                  <c:v>130</c:v>
                </c:pt>
                <c:pt idx="4">
                  <c:v>90</c:v>
                </c:pt>
                <c:pt idx="5">
                  <c:v>100</c:v>
                </c:pt>
                <c:pt idx="6">
                  <c:v>200</c:v>
                </c:pt>
                <c:pt idx="7">
                  <c:v>270</c:v>
                </c:pt>
                <c:pt idx="8">
                  <c:v>120</c:v>
                </c:pt>
                <c:pt idx="9">
                  <c:v>150</c:v>
                </c:pt>
                <c:pt idx="10">
                  <c:v>140</c:v>
                </c:pt>
                <c:pt idx="11">
                  <c:v>295</c:v>
                </c:pt>
                <c:pt idx="12">
                  <c:v>80</c:v>
                </c:pt>
                <c:pt idx="13">
                  <c:v>125</c:v>
                </c:pt>
                <c:pt idx="14">
                  <c:v>65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Robusta</c:v>
                </c:pt>
              </c:strCache>
            </c:strRef>
          </c:tx>
          <c:spPr>
            <a:solidFill>
              <a:srgbClr val="C0392B"/>
            </a:solidFill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Jan'19</c:v>
                  </c:pt>
                  <c:pt idx="1">
                    <c:v>Apr</c:v>
                  </c:pt>
                  <c:pt idx="2">
                    <c:v>Jul</c:v>
                  </c:pt>
                  <c:pt idx="3">
                    <c:v>Oct</c:v>
                  </c:pt>
                  <c:pt idx="4">
                    <c:v>Jan'20</c:v>
                  </c:pt>
                  <c:pt idx="5">
                    <c:v>Apr</c:v>
                  </c:pt>
                  <c:pt idx="6">
                    <c:v>Jul</c:v>
                  </c:pt>
                  <c:pt idx="7">
                    <c:v>Oct</c:v>
                  </c:pt>
                  <c:pt idx="8">
                    <c:v>Jan'21</c:v>
                  </c:pt>
                  <c:pt idx="9">
                    <c:v>Apr</c:v>
                  </c:pt>
                  <c:pt idx="10">
                    <c:v>Jul</c:v>
                  </c:pt>
                  <c:pt idx="11">
                    <c:v>Oct</c:v>
                  </c:pt>
                  <c:pt idx="12">
                    <c:v>Jan'22</c:v>
                  </c:pt>
                  <c:pt idx="13">
                    <c:v>Apr</c:v>
                  </c:pt>
                  <c:pt idx="14">
                    <c:v>Jul</c:v>
                  </c:pt>
                </c:lvl>
              </c:multiLvlStrCache>
            </c:multiLvlStrRef>
          </c:cat>
          <c:val>
            <c:numRef>
              <c:f>Sheet1!$E$2:$E$16</c:f>
              <c:numCache>
                <c:formatCode>General</c:formatCode>
                <c:ptCount val="15"/>
                <c:pt idx="0">
                  <c:v>160</c:v>
                </c:pt>
                <c:pt idx="1">
                  <c:v>130</c:v>
                </c:pt>
                <c:pt idx="2">
                  <c:v>110</c:v>
                </c:pt>
                <c:pt idx="3">
                  <c:v>140</c:v>
                </c:pt>
                <c:pt idx="4">
                  <c:v>75</c:v>
                </c:pt>
                <c:pt idx="5">
                  <c:v>100</c:v>
                </c:pt>
                <c:pt idx="6">
                  <c:v>90</c:v>
                </c:pt>
                <c:pt idx="7">
                  <c:v>120</c:v>
                </c:pt>
                <c:pt idx="8">
                  <c:v>80</c:v>
                </c:pt>
                <c:pt idx="9">
                  <c:v>95</c:v>
                </c:pt>
                <c:pt idx="10">
                  <c:v>85</c:v>
                </c:pt>
                <c:pt idx="11">
                  <c:v>100</c:v>
                </c:pt>
                <c:pt idx="12">
                  <c:v>50</c:v>
                </c:pt>
                <c:pt idx="13">
                  <c:v>60</c:v>
                </c:pt>
                <c:pt idx="14">
                  <c:v>45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A0DA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A0DA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A0DA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B008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Terri Farra</c:v>
                  </c:pt>
                  <c:pt idx="1">
                    <c:v>Petey Kingsbury</c:v>
                  </c:pt>
                  <c:pt idx="2">
                    <c:v>Tallie Felip</c:v>
                  </c:pt>
                  <c:pt idx="3">
                    <c:v>Brice Romera</c:v>
                  </c:pt>
                  <c:pt idx="4">
                    <c:v>Francesco Dressel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168</c:v>
                </c:pt>
                <c:pt idx="1">
                  <c:v>179</c:v>
                </c:pt>
                <c:pt idx="2">
                  <c:v>179</c:v>
                </c:pt>
                <c:pt idx="3">
                  <c:v>179</c:v>
                </c:pt>
                <c:pt idx="4">
                  <c:v>179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5"/>
          <c:min val="16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Index</c:v>
                </c:pt>
              </c:strCache>
            </c:strRef>
          </c:tx>
          <c:spPr>
            <a:solidFill>
              <a:srgbClr val="6A0DA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Q1'19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Q1'20</c:v>
                  </c:pt>
                  <c:pt idx="5">
                    <c:v>Q2</c:v>
                  </c:pt>
                  <c:pt idx="6">
                    <c:v>Q3</c:v>
                  </c:pt>
                  <c:pt idx="7">
                    <c:v>Q4</c:v>
                  </c:pt>
                  <c:pt idx="8">
                    <c:v>Q1'21</c:v>
                  </c:pt>
                  <c:pt idx="9">
                    <c:v>Q2</c:v>
                  </c:pt>
                  <c:pt idx="10">
                    <c:v>Q3</c:v>
                  </c:pt>
                  <c:pt idx="11">
                    <c:v>Q4</c:v>
                  </c:pt>
                  <c:pt idx="12">
                    <c:v>Q1'22</c:v>
                  </c:pt>
                  <c:pt idx="13">
                    <c:v>Q2</c:v>
                  </c:pt>
                  <c:pt idx="14">
                    <c:v>Q3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565</c:v>
                </c:pt>
                <c:pt idx="1">
                  <c:v>395</c:v>
                </c:pt>
                <c:pt idx="2">
                  <c:v>340</c:v>
                </c:pt>
                <c:pt idx="3">
                  <c:v>425</c:v>
                </c:pt>
                <c:pt idx="4">
                  <c:v>245</c:v>
                </c:pt>
                <c:pt idx="5">
                  <c:v>305</c:v>
                </c:pt>
                <c:pt idx="6">
                  <c:v>415</c:v>
                </c:pt>
                <c:pt idx="7">
                  <c:v>560</c:v>
                </c:pt>
                <c:pt idx="8">
                  <c:v>335</c:v>
                </c:pt>
                <c:pt idx="9">
                  <c:v>430</c:v>
                </c:pt>
                <c:pt idx="10">
                  <c:v>465</c:v>
                </c:pt>
                <c:pt idx="11">
                  <c:v>605</c:v>
                </c:pt>
                <c:pt idx="12">
                  <c:v>290</c:v>
                </c:pt>
                <c:pt idx="13">
                  <c:v>365</c:v>
                </c:pt>
                <c:pt idx="14">
                  <c:v>275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image" Target="../media/image-4-3.png"/><Relationship Id="rId5" Type="http://schemas.openxmlformats.org/officeDocument/2006/relationships/image" Target="../media/image-4-4.png"/><Relationship Id="rId6" Type="http://schemas.openxmlformats.org/officeDocument/2006/relationships/image" Target="../media/image-4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image" Target="../media/image-5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4B0082"/>
          </a:solidFill>
          <a:ln w="12700">
            <a:solidFill>
              <a:srgbClr val="4B00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0"/>
            <a:ext cx="73152" cy="5143500"/>
          </a:xfrm>
          <a:prstGeom prst="rect">
            <a:avLst/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5029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15544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SALES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82880" y="21488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spc="200" kern="0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BRIEFING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31520" y="2606040"/>
            <a:ext cx="2377440" cy="36576"/>
          </a:xfrm>
          <a:prstGeom prst="rect">
            <a:avLst/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27249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– 2022  |  Strategic Decision Report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0" y="1005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Executive Leadership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0" y="1508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Questions This Deck Answers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114800" y="2011680"/>
            <a:ext cx="256032" cy="256032"/>
          </a:xfrm>
          <a:prstGeom prst="ellipse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0" y="20116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480560" y="2002536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revenue coming from — and is it at risk?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114800" y="2670048"/>
            <a:ext cx="256032" cy="256032"/>
          </a:xfrm>
          <a:prstGeom prst="ellipse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0" y="26700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480560" y="2660904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are growing, stalling, or declining?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114800" y="3328416"/>
            <a:ext cx="256032" cy="256032"/>
          </a:xfrm>
          <a:prstGeom prst="ellipse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0" y="33284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480560" y="3319272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our most valuable customers?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114800" y="3986784"/>
            <a:ext cx="256032" cy="256032"/>
          </a:xfrm>
          <a:prstGeom prst="ellipse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14800" y="39867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480560" y="397764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decisions must leadership make now?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114800" y="47548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72CF"/>
                </a:solidFill>
              </a:rPr>
              <a:t>1 / 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B0082"/>
          </a:solidFill>
          <a:ln w="12700">
            <a:solidFill>
              <a:srgbClr val="4B00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SNAPSHOT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 — what the data tells us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0116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011680" cy="64008"/>
          </a:xfrm>
          <a:prstGeom prst="rect">
            <a:avLst/>
          </a:prstGeom>
          <a:solidFill>
            <a:srgbClr val="4B0082"/>
          </a:solidFill>
          <a:ln w="12700">
            <a:solidFill>
              <a:srgbClr val="4B00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1556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$13,180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74320" y="17190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98424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– 2022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50592" y="960120"/>
            <a:ext cx="20116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960120"/>
            <a:ext cx="2011680" cy="64008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111556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A0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450592" y="17190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Markets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50592" y="198424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· IE · UK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26864" y="960120"/>
            <a:ext cx="20116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960120"/>
            <a:ext cx="2011680" cy="64008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11556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626864" y="17190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Varieties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26864" y="198424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Arabica · Robusta · More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03136" y="960120"/>
            <a:ext cx="20116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03136" y="960120"/>
            <a:ext cx="2011680" cy="64008"/>
          </a:xfrm>
          <a:prstGeom prst="rect">
            <a:avLst/>
          </a:prstGeom>
          <a:solidFill>
            <a:srgbClr val="1B8A4A"/>
          </a:solidFill>
          <a:ln w="12700">
            <a:solidFill>
              <a:srgbClr val="1B8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03136" y="111556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$9,654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803136" y="17190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Revenue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03136" y="198424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of total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4320" y="263347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SIGNALS LEADERSHIP MUST ACT 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2999232"/>
            <a:ext cx="2816352" cy="1828800"/>
          </a:xfrm>
          <a:prstGeom prst="rect">
            <a:avLst/>
          </a:prstGeom>
          <a:solidFill>
            <a:srgbClr val="FFF8E1"/>
          </a:solidFill>
          <a:ln w="19050">
            <a:solidFill>
              <a:srgbClr val="D97706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090672"/>
            <a:ext cx="292608" cy="29260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49808" y="307238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Over-concentration risk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84048" y="3438144"/>
            <a:ext cx="25968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of revenue comes from the US alone. One market disruption could be catastrophic.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246120" y="2999232"/>
            <a:ext cx="2816352" cy="1828800"/>
          </a:xfrm>
          <a:prstGeom prst="rect">
            <a:avLst/>
          </a:prstGeom>
          <a:solidFill>
            <a:srgbClr val="E8F5E9"/>
          </a:solidFill>
          <a:ln w="19050">
            <a:solidFill>
              <a:srgbClr val="1B8A4A"/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3090672"/>
            <a:ext cx="292608" cy="292608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3721608" y="307238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Ireland opportunity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3355848" y="3438144"/>
            <a:ext cx="25968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share at $2,663 — the highest-ROI growth market with clear upside if investment increases.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6217920" y="2999232"/>
            <a:ext cx="2816352" cy="1828800"/>
          </a:xfrm>
          <a:prstGeom prst="rect">
            <a:avLst/>
          </a:prstGeom>
          <a:solidFill>
            <a:srgbClr val="FFF8E1"/>
          </a:solidFill>
          <a:ln w="19050">
            <a:solidFill>
              <a:srgbClr val="D97706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090672"/>
            <a:ext cx="292608" cy="292608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693408" y="307238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volatility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6327648" y="3438144"/>
            <a:ext cx="25968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Liberica &amp; Robusta show extreme swings. Without demand planning, stockouts and overstock will continue.</a:t>
            </a:r>
            <a:endParaRPr lang="en-US" sz="1050" dirty="0"/>
          </a:p>
        </p:txBody>
      </p:sp>
      <p:sp>
        <p:nvSpPr>
          <p:cNvPr id="38" name="Text 3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72CF"/>
                </a:solidFill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0A2E"/>
          </a:solidFill>
          <a:ln w="12700">
            <a:solidFill>
              <a:srgbClr val="1A0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64592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MARKET PERFORMANCE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50292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486400" y="960120"/>
            <a:ext cx="338328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486400" y="960120"/>
            <a:ext cx="73152" cy="1234440"/>
          </a:xfrm>
          <a:prstGeom prst="rect">
            <a:avLst/>
          </a:prstGeom>
          <a:solidFill>
            <a:srgbClr val="1B8A4A"/>
          </a:solidFill>
          <a:ln w="12700">
            <a:solidFill>
              <a:srgbClr val="1B8A4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614416" y="10515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  ·  $9,654  ·  73.2%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614416" y="1307592"/>
            <a:ext cx="1005840" cy="219456"/>
          </a:xfrm>
          <a:prstGeom prst="roundRect">
            <a:avLst>
              <a:gd name="adj" fmla="val 20833"/>
            </a:avLst>
          </a:prstGeom>
          <a:solidFill>
            <a:srgbClr val="1B8A4A"/>
          </a:solidFill>
          <a:ln w="12700">
            <a:solidFill>
              <a:srgbClr val="1B8A4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614416" y="1307592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&amp; GROW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5614416" y="158191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loyalty programme. Upsell larger pack sizes. Protect via retention.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486400" y="2331720"/>
            <a:ext cx="338328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486400" y="2331720"/>
            <a:ext cx="73152" cy="1234440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614416" y="24231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Ireland  ·  $2,663  ·  20.2%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614416" y="2679192"/>
            <a:ext cx="1005840" cy="219456"/>
          </a:xfrm>
          <a:prstGeom prst="roundRect">
            <a:avLst>
              <a:gd name="adj" fmla="val 20833"/>
            </a:avLst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614416" y="2679192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614416" y="295351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marketing budget. Localise bundles. Highest ROI growth market.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486400" y="3703320"/>
            <a:ext cx="338328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486400" y="3703320"/>
            <a:ext cx="73152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614416" y="37947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  ·  $863  ·  6.5%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614416" y="4050792"/>
            <a:ext cx="1005840" cy="219456"/>
          </a:xfrm>
          <a:prstGeom prst="roundRect">
            <a:avLst>
              <a:gd name="adj" fmla="val 208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614416" y="4050792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NOW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5614416" y="432511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12-month KPI gate. Commit or reallocate budget to Ireland.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72CF"/>
                </a:solidFill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B0082"/>
          </a:solidFill>
          <a:ln w="12700">
            <a:solidFill>
              <a:srgbClr val="4B008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64592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 — COFFEE VARIETIES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28600" y="914400"/>
          <a:ext cx="5303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623560" y="960120"/>
            <a:ext cx="32918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568" y="1069848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35040" y="10332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Arabica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7516368" y="1051560"/>
            <a:ext cx="1280160" cy="219456"/>
          </a:xfrm>
          <a:prstGeom prst="roundRect">
            <a:avLst>
              <a:gd name="adj" fmla="val 16667"/>
            </a:avLst>
          </a:prstGeom>
          <a:solidFill>
            <a:srgbClr val="1B8A4A"/>
          </a:solidFill>
          <a:ln w="12700">
            <a:solidFill>
              <a:srgbClr val="1B8A4A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7516368" y="105156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 ·  LOW RISK</a:t>
            </a:r>
            <a:endParaRPr lang="en-US" sz="800" dirty="0"/>
          </a:p>
        </p:txBody>
      </p:sp>
      <p:sp>
        <p:nvSpPr>
          <p:cNvPr id="11" name="Text 6"/>
          <p:cNvSpPr/>
          <p:nvPr/>
        </p:nvSpPr>
        <p:spPr>
          <a:xfrm>
            <a:off x="5687568" y="141732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anchor — maintain baseline stock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5623560" y="1938528"/>
            <a:ext cx="32918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7568" y="2048256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035040" y="20116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Excelsa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7516368" y="2029968"/>
            <a:ext cx="1280160" cy="219456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7516368" y="2029968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 ·  MED RISK</a:t>
            </a:r>
            <a:endParaRPr lang="en-US" sz="800" dirty="0"/>
          </a:p>
        </p:txBody>
      </p:sp>
      <p:sp>
        <p:nvSpPr>
          <p:cNvPr id="17" name="Text 11"/>
          <p:cNvSpPr/>
          <p:nvPr/>
        </p:nvSpPr>
        <p:spPr>
          <a:xfrm>
            <a:off x="5687568" y="239572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Q4 promotions to capture spikes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5623560" y="2916936"/>
            <a:ext cx="32918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7568" y="3026664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035040" y="299008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Liberica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7516368" y="3008376"/>
            <a:ext cx="1280160" cy="219456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7516368" y="3008376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Volatile  ·  HIGH RISK</a:t>
            </a:r>
            <a:endParaRPr lang="en-US" sz="800" dirty="0"/>
          </a:p>
        </p:txBody>
      </p:sp>
      <p:sp>
        <p:nvSpPr>
          <p:cNvPr id="23" name="Text 16"/>
          <p:cNvSpPr/>
          <p:nvPr/>
        </p:nvSpPr>
        <p:spPr>
          <a:xfrm>
            <a:off x="5687568" y="337413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stock 6-8 wks pre-Q4 every year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5623560" y="3895344"/>
            <a:ext cx="32918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7568" y="4005072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035040" y="39684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Robusta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7516368" y="3986784"/>
            <a:ext cx="1280160" cy="219456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7516368" y="398678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  ·  HIGH RISK</a:t>
            </a:r>
            <a:endParaRPr lang="en-US" sz="800" dirty="0"/>
          </a:p>
        </p:txBody>
      </p:sp>
      <p:sp>
        <p:nvSpPr>
          <p:cNvPr id="29" name="Text 21"/>
          <p:cNvSpPr/>
          <p:nvPr/>
        </p:nvSpPr>
        <p:spPr>
          <a:xfrm>
            <a:off x="5687568" y="435254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Reprice as value tier or bundle offering</a:t>
            </a:r>
            <a:endParaRPr lang="en-US" sz="950" dirty="0"/>
          </a:p>
        </p:txBody>
      </p:sp>
      <p:sp>
        <p:nvSpPr>
          <p:cNvPr id="30" name="Text 2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72CF"/>
                </a:solidFill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0A2E"/>
          </a:solidFill>
          <a:ln w="12700">
            <a:solidFill>
              <a:srgbClr val="1A0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64592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INTELLIGENCE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28600" y="914400"/>
          <a:ext cx="51206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5486400" y="9601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TELLS LEADERSHIP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5486400" y="1325880"/>
            <a:ext cx="3429000" cy="1143000"/>
          </a:xfrm>
          <a:prstGeom prst="rect">
            <a:avLst/>
          </a:prstGeom>
          <a:solidFill>
            <a:srgbClr val="E8F5E9"/>
          </a:solidFill>
          <a:ln w="12700">
            <a:solidFill>
              <a:srgbClr val="1B8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128" y="1435608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943600" y="14173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Cluster Identified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5577840" y="1764792"/>
            <a:ext cx="3246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customers at exactly $179 — identical behaviour suggests a structured loyalty tier can capture more spend.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5486400" y="2587752"/>
            <a:ext cx="3429000" cy="1143000"/>
          </a:xfrm>
          <a:prstGeom prst="rect">
            <a:avLst/>
          </a:prstGeom>
          <a:solidFill>
            <a:srgbClr val="FFF8E1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128" y="269748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943600" y="267919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Risk: Terri Farra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5577840" y="3026664"/>
            <a:ext cx="3246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 below peer average signals disengagement. Deploy a personalised retention offer immediately.</a:t>
            </a:r>
            <a:endParaRPr lang="en-US" sz="1000" dirty="0"/>
          </a:p>
        </p:txBody>
      </p:sp>
      <p:sp>
        <p:nvSpPr>
          <p:cNvPr id="15" name="Shape 9"/>
          <p:cNvSpPr/>
          <p:nvPr/>
        </p:nvSpPr>
        <p:spPr>
          <a:xfrm>
            <a:off x="5486400" y="3849624"/>
            <a:ext cx="3429000" cy="1143000"/>
          </a:xfrm>
          <a:prstGeom prst="rect">
            <a:avLst/>
          </a:prstGeom>
          <a:solidFill>
            <a:srgbClr val="F3E5F5"/>
          </a:solidFill>
          <a:ln w="12700">
            <a:solidFill>
              <a:srgbClr val="6A0D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6128" y="3959352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943600" y="394106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Card Lever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5577840" y="4288536"/>
            <a:ext cx="3246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Non-card holders represent untapped lifetime value. A welcome incentive can convert them at low cost.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72CF"/>
                </a:solidFill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64592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 ANALYSIS  ·  2019 – 2022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28600" y="914400"/>
          <a:ext cx="8686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3931920"/>
            <a:ext cx="21031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274320" y="3931920"/>
            <a:ext cx="210312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65760" y="40050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2019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365760" y="426110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Liberica &amp; Robusta spike. Benchmark for capacity.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2560320" y="3931920"/>
            <a:ext cx="21031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560320" y="3931920"/>
            <a:ext cx="210312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651760" y="40050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 2019–20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651760" y="426110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market dip. Cost review window.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846320" y="3931920"/>
            <a:ext cx="21031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8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846320" y="3931920"/>
            <a:ext cx="2103120" cy="54864"/>
          </a:xfrm>
          <a:prstGeom prst="rect">
            <a:avLst/>
          </a:prstGeom>
          <a:solidFill>
            <a:srgbClr val="1B8A4A"/>
          </a:solidFill>
          <a:ln w="12700">
            <a:solidFill>
              <a:srgbClr val="1B8A4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937760" y="40050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2021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937760" y="426110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Arabica leads rebound. Restock opportunity.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400800" y="3931920"/>
            <a:ext cx="21031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4B00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00800" y="3931920"/>
            <a:ext cx="2103120" cy="54864"/>
          </a:xfrm>
          <a:prstGeom prst="rect">
            <a:avLst/>
          </a:prstGeom>
          <a:solidFill>
            <a:srgbClr val="4B0082"/>
          </a:solidFill>
          <a:ln w="12700">
            <a:solidFill>
              <a:srgbClr val="4B008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492240" y="40050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2021 Surge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492240" y="426110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Multi-variety spike. Pre-plan 6-8 wks ahead.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72CF"/>
                </a:solidFill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REQUIRED FROM LEADERSHIP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297680" cy="1828800"/>
          </a:xfrm>
          <a:prstGeom prst="rect">
            <a:avLst/>
          </a:prstGeom>
          <a:solidFill>
            <a:srgbClr val="241047"/>
          </a:solidFill>
          <a:ln w="19050">
            <a:solidFill>
              <a:srgbClr val="1B8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457200" cy="457200"/>
          </a:xfrm>
          <a:prstGeom prst="ellipse">
            <a:avLst/>
          </a:prstGeom>
          <a:solidFill>
            <a:srgbClr val="1B8A4A"/>
          </a:solidFill>
          <a:ln w="12700">
            <a:solidFill>
              <a:srgbClr val="1B8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124712"/>
            <a:ext cx="960120" cy="201168"/>
          </a:xfrm>
          <a:prstGeom prst="roundRect">
            <a:avLst>
              <a:gd name="adj" fmla="val 18182"/>
            </a:avLst>
          </a:prstGeom>
          <a:solidFill>
            <a:srgbClr val="1B8A4A"/>
          </a:solidFill>
          <a:ln w="12700">
            <a:solidFill>
              <a:srgbClr val="1B8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124712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86968" y="109728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US Loyalty Programme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61848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B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Sales &amp; Marketing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82880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$9,654 US revenue base. Convert non-card holders with first-purchase incentives. Introduce VIP tier for top-4 customers.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2971800"/>
            <a:ext cx="4297680" cy="1828800"/>
          </a:xfrm>
          <a:prstGeom prst="rect">
            <a:avLst/>
          </a:prstGeom>
          <a:solidFill>
            <a:srgbClr val="24104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108960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29000" y="3136392"/>
            <a:ext cx="960120" cy="201168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3136392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86968" y="310896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Market: Go or No-Go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363016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Executive Team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384048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$863 in revenue — set a formal 12-month KPI gate. Either commit to a growth plan or reallocate budget to Ireland where ROI is proven.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960120"/>
            <a:ext cx="4297680" cy="1828800"/>
          </a:xfrm>
          <a:prstGeom prst="rect">
            <a:avLst/>
          </a:prstGeom>
          <a:solidFill>
            <a:srgbClr val="241047"/>
          </a:solidFill>
          <a:ln w="19050">
            <a:solidFill>
              <a:srgbClr val="6A0D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1097280"/>
            <a:ext cx="457200" cy="457200"/>
          </a:xfrm>
          <a:prstGeom prst="ellipse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01000" y="1124712"/>
            <a:ext cx="960120" cy="201168"/>
          </a:xfrm>
          <a:prstGeom prst="roundRect">
            <a:avLst>
              <a:gd name="adj" fmla="val 18182"/>
            </a:avLst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01000" y="1124712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DAYS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458968" y="109728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Ireland Growth Investment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161848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A0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Regional Marketing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37760" y="182880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share and $2,663 in revenue. Increase ad spend, localise product bundles, and explore retail partnerships to capture growth opportunity.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2971800"/>
            <a:ext cx="4297680" cy="1828800"/>
          </a:xfrm>
          <a:prstGeom prst="rect">
            <a:avLst/>
          </a:prstGeom>
          <a:solidFill>
            <a:srgbClr val="241047"/>
          </a:solidFill>
          <a:ln w="19050">
            <a:solidFill>
              <a:srgbClr val="9B72C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37760" y="3108960"/>
            <a:ext cx="457200" cy="457200"/>
          </a:xfrm>
          <a:prstGeom prst="ellipse">
            <a:avLst/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01000" y="3136392"/>
            <a:ext cx="960120" cy="201168"/>
          </a:xfrm>
          <a:prstGeom prst="roundRect">
            <a:avLst>
              <a:gd name="adj" fmla="val 18182"/>
            </a:avLst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01000" y="3136392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458968" y="310896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Inventory Pre-Build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37760" y="363016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Supply Chain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37760" y="384048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spikes in Liberica and Excelsa demand buffer stock 6–8 weeks before Q4. Without planning, stockouts will continue to erode revenue.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72CF"/>
                </a:solidFill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0A2E"/>
          </a:solidFill>
          <a:ln w="12700">
            <a:solidFill>
              <a:srgbClr val="1A0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64592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28600" y="914400"/>
            <a:ext cx="2926080" cy="384048"/>
          </a:xfrm>
          <a:prstGeom prst="rect">
            <a:avLst/>
          </a:prstGeom>
          <a:solidFill>
            <a:srgbClr val="4B0082"/>
          </a:solidFill>
          <a:ln w="12700">
            <a:solidFill>
              <a:srgbClr val="4B008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01752" y="91440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154680" y="914400"/>
            <a:ext cx="1463040" cy="384048"/>
          </a:xfrm>
          <a:prstGeom prst="rect">
            <a:avLst/>
          </a:prstGeom>
          <a:solidFill>
            <a:srgbClr val="4B0082"/>
          </a:solidFill>
          <a:ln w="12700">
            <a:solidFill>
              <a:srgbClr val="4B008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27832" y="9144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17720" y="914400"/>
            <a:ext cx="1463040" cy="384048"/>
          </a:xfrm>
          <a:prstGeom prst="rect">
            <a:avLst/>
          </a:prstGeom>
          <a:solidFill>
            <a:srgbClr val="4B0082"/>
          </a:solidFill>
          <a:ln w="12700">
            <a:solidFill>
              <a:srgbClr val="4B008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90872" y="9144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80760" y="914400"/>
            <a:ext cx="3291840" cy="384048"/>
          </a:xfrm>
          <a:prstGeom prst="rect">
            <a:avLst/>
          </a:prstGeom>
          <a:solidFill>
            <a:srgbClr val="4B0082"/>
          </a:solidFill>
          <a:ln w="12700">
            <a:solidFill>
              <a:srgbClr val="4B008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53912" y="9144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28600" y="1298448"/>
            <a:ext cx="29260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1298448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market over-reliance (73%)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154680" y="1298448"/>
            <a:ext cx="14630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37560" y="1472184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37560" y="147218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617720" y="1298448"/>
            <a:ext cx="14630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800600" y="1472184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00600" y="147218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080760" y="1298448"/>
            <a:ext cx="32918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72200" y="1298448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Ireland + UK growth plans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228600" y="2011680"/>
            <a:ext cx="292608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2011680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volatility (Liberica/Robusta)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154680" y="2011680"/>
            <a:ext cx="146304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337560" y="2185416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37560" y="21854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617720" y="2011680"/>
            <a:ext cx="146304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800600" y="2185416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800600" y="21854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080760" y="2011680"/>
            <a:ext cx="329184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172200" y="2011680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demand forecasting model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228600" y="2724912"/>
            <a:ext cx="29260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20040" y="2724912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customer revenue concentration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154680" y="2724912"/>
            <a:ext cx="14630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337560" y="2898648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337560" y="289864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617720" y="2724912"/>
            <a:ext cx="14630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800600" y="2898648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800600" y="289864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080760" y="2724912"/>
            <a:ext cx="32918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172200" y="2724912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 acquisition funnel; loyalty tiers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228600" y="3438144"/>
            <a:ext cx="292608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20040" y="3438144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market underperformance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3154680" y="3438144"/>
            <a:ext cx="146304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3337560" y="3611880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337560" y="36118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4617720" y="3438144"/>
            <a:ext cx="146304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800600" y="3611880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1B8A4A"/>
          </a:solidFill>
          <a:ln w="12700">
            <a:solidFill>
              <a:srgbClr val="1B8A4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4800600" y="36118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6080760" y="3438144"/>
            <a:ext cx="329184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172200" y="3438144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KPI gate — commit or exit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228600" y="4151376"/>
            <a:ext cx="29260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320040" y="4151376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seasonal supply gaps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3154680" y="4151376"/>
            <a:ext cx="14630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3337560" y="4325112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3337560" y="43251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4617720" y="4151376"/>
            <a:ext cx="14630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4800600" y="4325112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4800600" y="43251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6080760" y="4151376"/>
            <a:ext cx="32918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172200" y="4151376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model + buffer stock protocol</a:t>
            </a:r>
            <a:endParaRPr lang="en-US" sz="1050" dirty="0"/>
          </a:p>
        </p:txBody>
      </p:sp>
      <p:sp>
        <p:nvSpPr>
          <p:cNvPr id="63" name="Text 60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72CF"/>
                </a:solidFill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4B0082"/>
          </a:solidFill>
          <a:ln w="12700">
            <a:solidFill>
              <a:srgbClr val="4B008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54864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16002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2670048"/>
            <a:ext cx="2834640" cy="45720"/>
          </a:xfrm>
          <a:prstGeom prst="rect">
            <a:avLst/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2880" y="281635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leadership on actions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60 days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343400" y="822960"/>
            <a:ext cx="347472" cy="347472"/>
          </a:xfrm>
          <a:prstGeom prst="ellipse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43400" y="8229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841248"/>
            <a:ext cx="4160520" cy="685800"/>
          </a:xfrm>
          <a:prstGeom prst="rect">
            <a:avLst/>
          </a:prstGeom>
          <a:solidFill>
            <a:srgbClr val="241047"/>
          </a:solidFill>
          <a:ln w="6350">
            <a:solidFill>
              <a:srgbClr val="6A0DA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64608" y="84124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D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is the crown — protect it with a loyalty programme before competitors move in.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43400" y="1664208"/>
            <a:ext cx="347472" cy="347472"/>
          </a:xfrm>
          <a:prstGeom prst="ellipse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43400" y="16642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54880" y="1682496"/>
            <a:ext cx="4160520" cy="685800"/>
          </a:xfrm>
          <a:prstGeom prst="rect">
            <a:avLst/>
          </a:prstGeom>
          <a:solidFill>
            <a:srgbClr val="241047"/>
          </a:solidFill>
          <a:ln w="6350">
            <a:solidFill>
              <a:srgbClr val="6A0DA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64608" y="1682496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D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Ireland is the growth engine — increase investment now while momentum is clear.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43400" y="2505456"/>
            <a:ext cx="347472" cy="347472"/>
          </a:xfrm>
          <a:prstGeom prst="ellipse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43400" y="25054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754880" y="2523744"/>
            <a:ext cx="4160520" cy="685800"/>
          </a:xfrm>
          <a:prstGeom prst="rect">
            <a:avLst/>
          </a:prstGeom>
          <a:solidFill>
            <a:srgbClr val="241047"/>
          </a:solidFill>
          <a:ln w="6350">
            <a:solidFill>
              <a:srgbClr val="6A0DA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64608" y="2523744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D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needs a decision — ambiguity costs money; set a gate or exit.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343400" y="3346704"/>
            <a:ext cx="347472" cy="347472"/>
          </a:xfrm>
          <a:prstGeom prst="ellipse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43400" y="33467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754880" y="3364992"/>
            <a:ext cx="4160520" cy="685800"/>
          </a:xfrm>
          <a:prstGeom prst="rect">
            <a:avLst/>
          </a:prstGeom>
          <a:solidFill>
            <a:srgbClr val="241047"/>
          </a:solidFill>
          <a:ln w="6350">
            <a:solidFill>
              <a:srgbClr val="6A0DA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64608" y="3364992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D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volatility is predictable — plan supply 6-8 weeks ahead every year.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343400" y="4187952"/>
            <a:ext cx="347472" cy="347472"/>
          </a:xfrm>
          <a:prstGeom prst="ellipse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43400" y="41879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754880" y="4206240"/>
            <a:ext cx="4160520" cy="685800"/>
          </a:xfrm>
          <a:prstGeom prst="rect">
            <a:avLst/>
          </a:prstGeom>
          <a:solidFill>
            <a:srgbClr val="241047"/>
          </a:solidFill>
          <a:ln w="6350">
            <a:solidFill>
              <a:srgbClr val="6A0DA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64608" y="4206240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D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customers are at-risk — a $179 cluster and one outlier are signals, not coincidences.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206240" y="480060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 Welcome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72CF"/>
                </a:solidFill>
              </a:rPr>
              <a:t>9 /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Coffee Sales Leadership Briefing</dc:title>
  <dc:subject>PptxGenJS Presentation</dc:subject>
  <dc:creator>PptxGenJS</dc:creator>
  <cp:lastModifiedBy>PptxGenJS</cp:lastModifiedBy>
  <cp:revision>1</cp:revision>
  <dcterms:created xsi:type="dcterms:W3CDTF">2026-05-16T19:44:09Z</dcterms:created>
  <dcterms:modified xsi:type="dcterms:W3CDTF">2026-05-16T19:44:09Z</dcterms:modified>
</cp:coreProperties>
</file>